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1874519"/>
            <a:ext cx="11057839" cy="1371600"/>
          </a:xfrm>
          <a:prstGeom prst="rect">
            <a:avLst/>
          </a:prstGeom>
          <a:noFill/>
        </p:spPr>
        <p:txBody>
          <a:bodyPr wrap="square" anchor="t" lIns="0" rIns="0" tIns="0" bIns="0">
            <a:spAutoFit/>
          </a:bodyPr>
          <a:lstStyle/>
          <a:p>
            <a:pPr algn="l">
              <a:spcAft>
                <a:spcPts val="0"/>
              </a:spcAft>
            </a:pPr>
            <a:r>
              <a:rPr sz="1300" b="1" i="0">
                <a:solidFill>
                  <a:srgbClr val="0E6B62"/>
                </a:solidFill>
                <a:latin typeface="Arial"/>
              </a:rPr>
              <a:t>JBROWSE 2 BENCHMARKS</a:t>
            </a:r>
          </a:p>
        </p:txBody>
      </p:sp>
      <p:sp>
        <p:nvSpPr>
          <p:cNvPr id="3" name="TextBox 2"/>
          <p:cNvSpPr txBox="1"/>
          <p:nvPr/>
        </p:nvSpPr>
        <p:spPr>
          <a:xfrm>
            <a:off x="566928" y="2240280"/>
            <a:ext cx="11057839" cy="1737360"/>
          </a:xfrm>
          <a:prstGeom prst="rect">
            <a:avLst/>
          </a:prstGeom>
          <a:noFill/>
        </p:spPr>
        <p:txBody>
          <a:bodyPr wrap="square" anchor="t" lIns="0" rIns="0" tIns="0" bIns="0">
            <a:spAutoFit/>
          </a:bodyPr>
          <a:lstStyle/>
          <a:p>
            <a:pPr algn="l">
              <a:spcAft>
                <a:spcPts val="0"/>
              </a:spcAft>
            </a:pPr>
            <a:r>
              <a:rPr sz="4400" b="1" i="0">
                <a:solidFill>
                  <a:srgbClr val="141C1E"/>
                </a:solidFill>
                <a:latin typeface="Arial"/>
              </a:rPr>
              <a:t>What three years bought a reader</a:t>
            </a:r>
          </a:p>
          <a:p>
            <a:pPr algn="l">
              <a:spcAft>
                <a:spcPts val="0"/>
              </a:spcAft>
            </a:pPr>
            <a:r>
              <a:rPr sz="4400" b="1" i="0">
                <a:solidFill>
                  <a:srgbClr val="141C1E"/>
                </a:solidFill>
                <a:latin typeface="Arial"/>
              </a:rPr>
              <a:t>of the 2023 paper</a:t>
            </a:r>
          </a:p>
        </p:txBody>
      </p:sp>
      <p:sp>
        <p:nvSpPr>
          <p:cNvPr id="4" name="Rectangle 3"/>
          <p:cNvSpPr/>
          <p:nvPr/>
        </p:nvSpPr>
        <p:spPr>
          <a:xfrm>
            <a:off x="566928" y="4069080"/>
            <a:ext cx="2194560" cy="38100"/>
          </a:xfrm>
          <a:prstGeom prst="rect">
            <a:avLst/>
          </a:prstGeom>
          <a:solidFill>
            <a:srgbClr val="0E6B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4434840"/>
            <a:ext cx="8595360" cy="1463040"/>
          </a:xfrm>
          <a:prstGeom prst="rect">
            <a:avLst/>
          </a:prstGeom>
          <a:noFill/>
        </p:spPr>
        <p:txBody>
          <a:bodyPr wrap="square" anchor="t" lIns="0" rIns="0" tIns="0" bIns="0">
            <a:spAutoFit/>
          </a:bodyPr>
          <a:lstStyle/>
          <a:p>
            <a:pPr algn="l">
              <a:spcAft>
                <a:spcPts val="0"/>
              </a:spcAft>
            </a:pPr>
            <a:r>
              <a:rPr sz="1500" b="0" i="0">
                <a:solidFill>
                  <a:srgbClr val="556A6C"/>
                </a:solidFill>
                <a:latin typeface="Arial"/>
              </a:rPr>
              <a:t>Current HEAD measured against v2.4.0 — the version archived and benchmarked in the 2023 Genome Biology paper — on the same corpus, the same simulation commands, and the same machine on the same day.</a:t>
            </a:r>
          </a:p>
          <a:p>
            <a:pPr algn="l">
              <a:spcAft>
                <a:spcPts val="0"/>
              </a:spcAft>
            </a:pPr>
            <a:r>
              <a:rPr sz="800" b="0" i="0">
                <a:solidFill>
                  <a:srgbClr val="141C1E"/>
                </a:solidFill>
                <a:latin typeface="Arial"/>
              </a:rPr>
              <a:t/>
            </a:r>
          </a:p>
          <a:p>
            <a:pPr algn="l">
              <a:spcAft>
                <a:spcPts val="0"/>
              </a:spcAft>
            </a:pPr>
            <a:r>
              <a:rPr sz="1500" b="0" i="0">
                <a:solidFill>
                  <a:srgbClr val="556A6C"/>
                </a:solidFill>
                <a:latin typeface="Arial"/>
              </a:rPr>
              <a:t>Rendering, interaction, decoding, and transport.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66928"/>
            <a:ext cx="11057839" cy="237744"/>
          </a:xfrm>
          <a:prstGeom prst="rect">
            <a:avLst/>
          </a:prstGeom>
          <a:noFill/>
        </p:spPr>
        <p:txBody>
          <a:bodyPr wrap="square" anchor="t" lIns="0" rIns="0" tIns="0" bIns="0">
            <a:spAutoFit/>
          </a:bodyPr>
          <a:lstStyle/>
          <a:p>
            <a:pPr algn="l">
              <a:spcAft>
                <a:spcPts val="0"/>
              </a:spcAft>
            </a:pPr>
            <a:r>
              <a:rPr sz="1100" b="1" i="0">
                <a:solidFill>
                  <a:srgbClr val="0E6B62"/>
                </a:solidFill>
                <a:latin typeface="Arial"/>
              </a:rPr>
              <a:t>THE FINDING BEHIND THE NUMBERS</a:t>
            </a:r>
          </a:p>
        </p:txBody>
      </p:sp>
      <p:sp>
        <p:nvSpPr>
          <p:cNvPr id="3" name="TextBox 2"/>
          <p:cNvSpPr txBox="1"/>
          <p:nvPr/>
        </p:nvSpPr>
        <p:spPr>
          <a:xfrm>
            <a:off x="566928" y="859536"/>
            <a:ext cx="11057839" cy="566928"/>
          </a:xfrm>
          <a:prstGeom prst="rect">
            <a:avLst/>
          </a:prstGeom>
          <a:noFill/>
        </p:spPr>
        <p:txBody>
          <a:bodyPr wrap="square" anchor="t" lIns="0" rIns="0" tIns="0" bIns="0">
            <a:spAutoFit/>
          </a:bodyPr>
          <a:lstStyle/>
          <a:p>
            <a:pPr algn="l">
              <a:spcAft>
                <a:spcPts val="0"/>
              </a:spcAft>
            </a:pPr>
            <a:r>
              <a:rPr sz="3000" b="1" i="0">
                <a:solidFill>
                  <a:srgbClr val="141C1E"/>
                </a:solidFill>
                <a:latin typeface="Arial"/>
              </a:rPr>
              <a:t>It is not the GPU</a:t>
            </a:r>
          </a:p>
        </p:txBody>
      </p:sp>
      <p:sp>
        <p:nvSpPr>
          <p:cNvPr id="4" name="TextBox 3"/>
          <p:cNvSpPr txBox="1"/>
          <p:nvPr/>
        </p:nvSpPr>
        <p:spPr>
          <a:xfrm>
            <a:off x="566928" y="1463040"/>
            <a:ext cx="11057839" cy="457200"/>
          </a:xfrm>
          <a:prstGeom prst="rect">
            <a:avLst/>
          </a:prstGeom>
          <a:noFill/>
        </p:spPr>
        <p:txBody>
          <a:bodyPr wrap="square" anchor="t" lIns="0" rIns="0" tIns="0" bIns="0">
            <a:spAutoFit/>
          </a:bodyPr>
          <a:lstStyle/>
          <a:p>
            <a:pPr algn="l">
              <a:spcAft>
                <a:spcPts val="0"/>
              </a:spcAft>
            </a:pPr>
            <a:r>
              <a:rPr sz="1400" b="0" i="0">
                <a:solidFill>
                  <a:srgbClr val="556A6C"/>
                </a:solidFill>
                <a:latin typeface="Arial"/>
              </a:rPr>
              <a:t>A record crosses six stages between file byte and pixel: decompression, parsing, an in-memory representation, a thread boundary, an encode step, a draw.</a:t>
            </a:r>
          </a:p>
        </p:txBody>
      </p:sp>
      <p:sp>
        <p:nvSpPr>
          <p:cNvPr id="5" name="Rectangle 4"/>
          <p:cNvSpPr/>
          <p:nvPr/>
        </p:nvSpPr>
        <p:spPr>
          <a:xfrm>
            <a:off x="566928" y="1938528"/>
            <a:ext cx="11057839" cy="15240"/>
          </a:xfrm>
          <a:prstGeom prst="rect">
            <a:avLst/>
          </a:prstGeom>
          <a:solidFill>
            <a:srgbClr val="D5D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2615184"/>
            <a:ext cx="10424160" cy="2926080"/>
          </a:xfrm>
          <a:prstGeom prst="rect">
            <a:avLst/>
          </a:prstGeom>
          <a:noFill/>
        </p:spPr>
        <p:txBody>
          <a:bodyPr wrap="square" anchor="t" lIns="0" rIns="0" tIns="0" bIns="0">
            <a:spAutoFit/>
          </a:bodyPr>
          <a:lstStyle/>
          <a:p>
            <a:pPr algn="l">
              <a:spcAft>
                <a:spcPts val="1400"/>
              </a:spcAft>
            </a:pPr>
            <a:r>
              <a:rPr sz="2200" b="0" i="0">
                <a:solidFill>
                  <a:srgbClr val="141C1E"/>
                </a:solidFill>
                <a:latin typeface="Arial"/>
              </a:rPr>
              <a:t>Each of those stages was individually reasonable. None profiled as the bottleneck.</a:t>
            </a:r>
          </a:p>
          <a:p>
            <a:pPr algn="l">
              <a:spcAft>
                <a:spcPts val="1400"/>
              </a:spcAft>
            </a:pPr>
            <a:r>
              <a:rPr sz="2200" b="1" i="0">
                <a:solidFill>
                  <a:srgbClr val="B04A2C"/>
                </a:solidFill>
                <a:latin typeface="Arial"/>
              </a:rPr>
              <a:t>The cost was not inside them but at the boundaries between them — every stage handed the next a record in a shape that stage had to rebuild.</a:t>
            </a:r>
          </a:p>
          <a:p>
            <a:pPr algn="l">
              <a:spcAft>
                <a:spcPts val="0"/>
              </a:spcAft>
            </a:pPr>
            <a:r>
              <a:rPr sz="1800" b="0" i="0">
                <a:solidFill>
                  <a:srgbClr val="556A6C"/>
                </a:solidFill>
                <a:latin typeface="Arial"/>
              </a:rPr>
              <a:t>A profiler charges that work to the stage doing the rebuilding, not to the boundary that forced it. So no measurement of a single layer points at it, and no owner of a single layer can remove it: the shapes have to agree, so one party has to choose all of them.</a:t>
            </a:r>
          </a:p>
        </p:txBody>
      </p:sp>
      <p:sp>
        <p:nvSpPr>
          <p:cNvPr id="7" name="TextBox 6"/>
          <p:cNvSpPr txBox="1"/>
          <p:nvPr/>
        </p:nvSpPr>
        <p:spPr>
          <a:xfrm>
            <a:off x="566928" y="6199632"/>
            <a:ext cx="11057839" cy="420624"/>
          </a:xfrm>
          <a:prstGeom prst="rect">
            <a:avLst/>
          </a:prstGeom>
          <a:noFill/>
        </p:spPr>
        <p:txBody>
          <a:bodyPr wrap="square" anchor="t" lIns="0" rIns="0" tIns="0" bIns="0">
            <a:spAutoFit/>
          </a:bodyPr>
          <a:lstStyle/>
          <a:p>
            <a:pPr algn="l">
              <a:spcAft>
                <a:spcPts val="0"/>
              </a:spcAft>
            </a:pPr>
            <a:r>
              <a:rPr sz="1050" b="0" i="0">
                <a:solidFill>
                  <a:srgbClr val="556A6C"/>
                </a:solidFill>
                <a:latin typeface="Arial"/>
              </a:rPr>
              <a:t>We maintain the decoders, the transport and the renderer, so we chose all of them.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66928"/>
            <a:ext cx="11057839" cy="237744"/>
          </a:xfrm>
          <a:prstGeom prst="rect">
            <a:avLst/>
          </a:prstGeom>
          <a:noFill/>
        </p:spPr>
        <p:txBody>
          <a:bodyPr wrap="square" anchor="t" lIns="0" rIns="0" tIns="0" bIns="0">
            <a:spAutoFit/>
          </a:bodyPr>
          <a:lstStyle/>
          <a:p>
            <a:pPr algn="l">
              <a:spcAft>
                <a:spcPts val="0"/>
              </a:spcAft>
            </a:pPr>
            <a:r>
              <a:rPr sz="1100" b="1" i="0">
                <a:solidFill>
                  <a:srgbClr val="0E6B62"/>
                </a:solidFill>
                <a:latin typeface="Arial"/>
              </a:rPr>
              <a:t>1 OF 2 — UNDER THE RENDERER</a:t>
            </a:r>
          </a:p>
        </p:txBody>
      </p:sp>
      <p:sp>
        <p:nvSpPr>
          <p:cNvPr id="3" name="TextBox 2"/>
          <p:cNvSpPr txBox="1"/>
          <p:nvPr/>
        </p:nvSpPr>
        <p:spPr>
          <a:xfrm>
            <a:off x="566928" y="859536"/>
            <a:ext cx="11057839" cy="566928"/>
          </a:xfrm>
          <a:prstGeom prst="rect">
            <a:avLst/>
          </a:prstGeom>
          <a:noFill/>
        </p:spPr>
        <p:txBody>
          <a:bodyPr wrap="square" anchor="t" lIns="0" rIns="0" tIns="0" bIns="0">
            <a:spAutoFit/>
          </a:bodyPr>
          <a:lstStyle/>
          <a:p>
            <a:pPr algn="l">
              <a:spcAft>
                <a:spcPts val="0"/>
              </a:spcAft>
            </a:pPr>
            <a:r>
              <a:rPr sz="3000" b="1" i="0">
                <a:solidFill>
                  <a:srgbClr val="141C1E"/>
                </a:solidFill>
                <a:latin typeface="Arial"/>
              </a:rPr>
              <a:t>Techniques: representation and transport</a:t>
            </a:r>
          </a:p>
        </p:txBody>
      </p:sp>
      <p:sp>
        <p:nvSpPr>
          <p:cNvPr id="4" name="TextBox 3"/>
          <p:cNvSpPr txBox="1"/>
          <p:nvPr/>
        </p:nvSpPr>
        <p:spPr>
          <a:xfrm>
            <a:off x="566928" y="1463040"/>
            <a:ext cx="11057839" cy="457200"/>
          </a:xfrm>
          <a:prstGeom prst="rect">
            <a:avLst/>
          </a:prstGeom>
          <a:noFill/>
        </p:spPr>
        <p:txBody>
          <a:bodyPr wrap="square" anchor="t" lIns="0" rIns="0" tIns="0" bIns="0">
            <a:spAutoFit/>
          </a:bodyPr>
          <a:lstStyle/>
          <a:p>
            <a:pPr algn="l">
              <a:spcAft>
                <a:spcPts val="0"/>
              </a:spcAft>
            </a:pPr>
            <a:r>
              <a:rPr sz="1400" b="0" i="0">
                <a:solidFill>
                  <a:srgbClr val="556A6C"/>
                </a:solidFill>
                <a:latin typeface="Arial"/>
              </a:rPr>
              <a:t>Applied at every stage a record passes through, rather than at the one that profiled worst.</a:t>
            </a:r>
          </a:p>
        </p:txBody>
      </p:sp>
      <p:sp>
        <p:nvSpPr>
          <p:cNvPr id="5" name="Rectangle 4"/>
          <p:cNvSpPr/>
          <p:nvPr/>
        </p:nvSpPr>
        <p:spPr>
          <a:xfrm>
            <a:off x="566928" y="1938528"/>
            <a:ext cx="11057839" cy="15240"/>
          </a:xfrm>
          <a:prstGeom prst="rect">
            <a:avLst/>
          </a:prstGeom>
          <a:solidFill>
            <a:srgbClr val="D5D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2157984"/>
          <a:ext cx="11057838" cy="3401568"/>
        </p:xfrm>
        <a:graphic>
          <a:graphicData uri="http://schemas.openxmlformats.org/drawingml/2006/table">
            <a:tbl>
              <a:tblPr firstRow="1" bandRow="1">
                <a:tableStyleId>{5C22544A-7EE6-4342-B048-85BDC9FD1C3A}</a:tableStyleId>
              </a:tblPr>
              <a:tblGrid>
                <a:gridCol w="3317351"/>
                <a:gridCol w="3427930"/>
                <a:gridCol w="4312557"/>
              </a:tblGrid>
              <a:tr h="566928">
                <a:tc>
                  <a:txBody>
                    <a:bodyPr/>
                    <a:lstStyle/>
                    <a:p>
                      <a:r>
                        <a:rPr sz="1050" b="1">
                          <a:solidFill>
                            <a:srgbClr val="0E6B62"/>
                          </a:solidFill>
                          <a:latin typeface="Arial"/>
                        </a:rPr>
                        <a:t>Technique</a:t>
                      </a:r>
                    </a:p>
                  </a:txBody>
                  <a:tcPr marL="82296" marR="82296" marT="41148" marB="41148">
                    <a:solidFill>
                      <a:srgbClr val="EEF4F3"/>
                    </a:solidFill>
                  </a:tcPr>
                </a:tc>
                <a:tc>
                  <a:txBody>
                    <a:bodyPr/>
                    <a:lstStyle/>
                    <a:p>
                      <a:r>
                        <a:rPr sz="1050" b="1">
                          <a:solidFill>
                            <a:srgbClr val="0E6B62"/>
                          </a:solidFill>
                          <a:latin typeface="Arial"/>
                        </a:rPr>
                        <a:t>Replaces</a:t>
                      </a:r>
                    </a:p>
                  </a:txBody>
                  <a:tcPr marL="82296" marR="82296" marT="41148" marB="41148">
                    <a:solidFill>
                      <a:srgbClr val="EEF4F3"/>
                    </a:solidFill>
                  </a:tcPr>
                </a:tc>
                <a:tc>
                  <a:txBody>
                    <a:bodyPr/>
                    <a:lstStyle/>
                    <a:p>
                      <a:r>
                        <a:rPr sz="1050" b="1">
                          <a:solidFill>
                            <a:srgbClr val="0E6B62"/>
                          </a:solidFill>
                          <a:latin typeface="Arial"/>
                        </a:rPr>
                        <a:t>Measured effect</a:t>
                      </a:r>
                    </a:p>
                  </a:txBody>
                  <a:tcPr marL="82296" marR="82296" marT="41148" marB="41148">
                    <a:solidFill>
                      <a:srgbClr val="EEF4F3"/>
                    </a:solidFill>
                  </a:tcPr>
                </a:tc>
              </a:tr>
              <a:tr h="566928">
                <a:tc>
                  <a:txBody>
                    <a:bodyPr/>
                    <a:lstStyle/>
                    <a:p>
                      <a:r>
                        <a:rPr sz="1050" b="1">
                          <a:solidFill>
                            <a:srgbClr val="141C1E"/>
                          </a:solidFill>
                          <a:latin typeface="Arial"/>
                        </a:rPr>
                        <a:t>Columnar typed arrays, end to end</a:t>
                      </a:r>
                    </a:p>
                  </a:txBody>
                  <a:tcPr marL="82296" marR="82296" marT="41148" marB="41148" anchor="t">
                    <a:solidFill>
                      <a:srgbClr val="FFFFFF"/>
                    </a:solidFill>
                  </a:tcPr>
                </a:tc>
                <a:tc>
                  <a:txBody>
                    <a:bodyPr/>
                    <a:lstStyle/>
                    <a:p>
                      <a:r>
                        <a:rPr sz="1050" b="0">
                          <a:solidFill>
                            <a:srgbClr val="141C1E"/>
                          </a:solidFill>
                          <a:latin typeface="Arial"/>
                        </a:rPr>
                        <a:t>One object per feature holding all its attributes</a:t>
                      </a:r>
                    </a:p>
                  </a:txBody>
                  <a:tcPr marL="82296" marR="82296" marT="41148" marB="41148" anchor="t">
                    <a:solidFill>
                      <a:srgbClr val="FFFFFF"/>
                    </a:solidFill>
                  </a:tcPr>
                </a:tc>
                <a:tc>
                  <a:txBody>
                    <a:bodyPr/>
                    <a:lstStyle/>
                    <a:p>
                      <a:r>
                        <a:rPr sz="1050" b="0">
                          <a:solidFill>
                            <a:srgbClr val="0E6B62"/>
                          </a:solidFill>
                          <a:latin typeface="Arial"/>
                        </a:rPr>
                        <a:t>The layout the encoder copies from and the shader reads</a:t>
                      </a:r>
                    </a:p>
                  </a:txBody>
                  <a:tcPr marL="82296" marR="82296" marT="41148" marB="41148" anchor="t">
                    <a:solidFill>
                      <a:srgbClr val="FFFFFF"/>
                    </a:solidFill>
                  </a:tcPr>
                </a:tc>
              </a:tr>
              <a:tr h="566928">
                <a:tc>
                  <a:txBody>
                    <a:bodyPr/>
                    <a:lstStyle/>
                    <a:p>
                      <a:r>
                        <a:rPr sz="1050" b="1">
                          <a:solidFill>
                            <a:srgbClr val="141C1E"/>
                          </a:solidFill>
                          <a:latin typeface="Arial"/>
                        </a:rPr>
                        <a:t>Arena allocation per decoded block</a:t>
                      </a:r>
                    </a:p>
                  </a:txBody>
                  <a:tcPr marL="82296" marR="82296" marT="41148" marB="41148" anchor="t">
                    <a:solidFill>
                      <a:srgbClr val="FFFFFF"/>
                    </a:solidFill>
                  </a:tcPr>
                </a:tc>
                <a:tc>
                  <a:txBody>
                    <a:bodyPr/>
                    <a:lstStyle/>
                    <a:p>
                      <a:r>
                        <a:rPr sz="1050" b="0">
                          <a:solidFill>
                            <a:srgbClr val="141C1E"/>
                          </a:solidFill>
                          <a:latin typeface="Arial"/>
                        </a:rPr>
                        <a:t>One small object per record or read feature</a:t>
                      </a:r>
                    </a:p>
                  </a:txBody>
                  <a:tcPr marL="82296" marR="82296" marT="41148" marB="41148" anchor="t">
                    <a:solidFill>
                      <a:srgbClr val="FFFFFF"/>
                    </a:solidFill>
                  </a:tcPr>
                </a:tc>
                <a:tc>
                  <a:txBody>
                    <a:bodyPr/>
                    <a:lstStyle/>
                    <a:p>
                      <a:r>
                        <a:rPr sz="1050" b="0">
                          <a:solidFill>
                            <a:srgbClr val="0E6B62"/>
                          </a:solidFill>
                          <a:latin typeface="Arial"/>
                        </a:rPr>
                        <a:t>A CRAM read feature falls from 64 to 19 bytes</a:t>
                      </a:r>
                    </a:p>
                  </a:txBody>
                  <a:tcPr marL="82296" marR="82296" marT="41148" marB="41148" anchor="t">
                    <a:solidFill>
                      <a:srgbClr val="FFFFFF"/>
                    </a:solidFill>
                  </a:tcPr>
                </a:tc>
              </a:tr>
              <a:tr h="566928">
                <a:tc>
                  <a:txBody>
                    <a:bodyPr/>
                    <a:lstStyle/>
                    <a:p>
                      <a:r>
                        <a:rPr sz="1050" b="1">
                          <a:solidFill>
                            <a:srgbClr val="141C1E"/>
                          </a:solidFill>
                          <a:latin typeface="Arial"/>
                        </a:rPr>
                        <a:t>Numeric decoding instead of strings
(packed CIGAR → opcodes; genotypes interned)</a:t>
                      </a:r>
                    </a:p>
                  </a:txBody>
                  <a:tcPr marL="82296" marR="82296" marT="41148" marB="41148" anchor="t">
                    <a:solidFill>
                      <a:srgbClr val="FFFFFF"/>
                    </a:solidFill>
                  </a:tcPr>
                </a:tc>
                <a:tc>
                  <a:txBody>
                    <a:bodyPr/>
                    <a:lstStyle/>
                    <a:p>
                      <a:r>
                        <a:rPr sz="1050" b="0">
                          <a:solidFill>
                            <a:srgbClr val="141C1E"/>
                          </a:solidFill>
                          <a:latin typeface="Arial"/>
                        </a:rPr>
                        <a:t>A string per record, or per sample per site, that a later stage re-parses</a:t>
                      </a:r>
                    </a:p>
                  </a:txBody>
                  <a:tcPr marL="82296" marR="82296" marT="41148" marB="41148" anchor="t">
                    <a:solidFill>
                      <a:srgbClr val="FFFFFF"/>
                    </a:solidFill>
                  </a:tcPr>
                </a:tc>
                <a:tc>
                  <a:txBody>
                    <a:bodyPr/>
                    <a:lstStyle/>
                    <a:p>
                      <a:r>
                        <a:rPr sz="1050" b="0">
                          <a:solidFill>
                            <a:srgbClr val="0E6B62"/>
                          </a:solidFill>
                          <a:latin typeface="Arial"/>
                        </a:rPr>
                        <a:t>Genotype-matrix prep 1.87× / 2.47× faster, output byte-identical</a:t>
                      </a:r>
                    </a:p>
                  </a:txBody>
                  <a:tcPr marL="82296" marR="82296" marT="41148" marB="41148" anchor="t">
                    <a:solidFill>
                      <a:srgbClr val="FFFFFF"/>
                    </a:solidFill>
                  </a:tcPr>
                </a:tc>
              </a:tr>
              <a:tr h="566928">
                <a:tc>
                  <a:txBody>
                    <a:bodyPr/>
                    <a:lstStyle/>
                    <a:p>
                      <a:r>
                        <a:rPr sz="1050" b="1">
                          <a:solidFill>
                            <a:srgbClr val="141C1E"/>
                          </a:solidFill>
                          <a:latin typeface="Arial"/>
                        </a:rPr>
                        <a:t>WebAssembly for innermost loops
(libdeflate, htscodecs, clustering kernel)</a:t>
                      </a:r>
                    </a:p>
                  </a:txBody>
                  <a:tcPr marL="82296" marR="82296" marT="41148" marB="41148" anchor="t">
                    <a:solidFill>
                      <a:srgbClr val="FFFFFF"/>
                    </a:solidFill>
                  </a:tcPr>
                </a:tc>
                <a:tc>
                  <a:txBody>
                    <a:bodyPr/>
                    <a:lstStyle/>
                    <a:p>
                      <a:r>
                        <a:rPr sz="1050" b="0">
                          <a:solidFill>
                            <a:srgbClr val="141C1E"/>
                          </a:solidFill>
                          <a:latin typeface="Arial"/>
                        </a:rPr>
                        <a:t>A JavaScript inflate and codec implementation</a:t>
                      </a:r>
                    </a:p>
                  </a:txBody>
                  <a:tcPr marL="82296" marR="82296" marT="41148" marB="41148" anchor="t">
                    <a:solidFill>
                      <a:srgbClr val="FFFFFF"/>
                    </a:solidFill>
                  </a:tcPr>
                </a:tc>
                <a:tc>
                  <a:txBody>
                    <a:bodyPr/>
                    <a:lstStyle/>
                    <a:p>
                      <a:r>
                        <a:rPr sz="1050" b="0">
                          <a:solidFill>
                            <a:srgbClr val="0E6B62"/>
                          </a:solidFill>
                          <a:latin typeface="Arial"/>
                        </a:rPr>
                        <a:t>2.5–3× on inflation alone — but only a few % of a whole query</a:t>
                      </a:r>
                    </a:p>
                  </a:txBody>
                  <a:tcPr marL="82296" marR="82296" marT="41148" marB="41148" anchor="t">
                    <a:solidFill>
                      <a:srgbClr val="FFFFFF"/>
                    </a:solidFill>
                  </a:tcPr>
                </a:tc>
              </a:tr>
              <a:tr h="566928">
                <a:tc>
                  <a:txBody>
                    <a:bodyPr/>
                    <a:lstStyle/>
                    <a:p>
                      <a:r>
                        <a:rPr sz="1050" b="1">
                          <a:solidFill>
                            <a:srgbClr val="141C1E"/>
                          </a:solidFill>
                          <a:latin typeface="Arial"/>
                        </a:rPr>
                        <a:t>Zero-copy transport across the worker</a:t>
                      </a:r>
                    </a:p>
                  </a:txBody>
                  <a:tcPr marL="82296" marR="82296" marT="41148" marB="41148" anchor="t">
                    <a:solidFill>
                      <a:srgbClr val="FFFFFF"/>
                    </a:solidFill>
                  </a:tcPr>
                </a:tc>
                <a:tc>
                  <a:txBody>
                    <a:bodyPr/>
                    <a:lstStyle/>
                    <a:p>
                      <a:r>
                        <a:rPr sz="1050" b="0">
                          <a:solidFill>
                            <a:srgbClr val="141C1E"/>
                          </a:solidFill>
                          <a:latin typeface="Arial"/>
                        </a:rPr>
                        <a:t>A structured clone costing time proportional to payload size</a:t>
                      </a:r>
                    </a:p>
                  </a:txBody>
                  <a:tcPr marL="82296" marR="82296" marT="41148" marB="41148" anchor="t">
                    <a:solidFill>
                      <a:srgbClr val="FFFFFF"/>
                    </a:solidFill>
                  </a:tcPr>
                </a:tc>
                <a:tc>
                  <a:txBody>
                    <a:bodyPr/>
                    <a:lstStyle/>
                    <a:p>
                      <a:r>
                        <a:rPr sz="1050" b="0">
                          <a:solidFill>
                            <a:srgbClr val="0E6B62"/>
                          </a:solidFill>
                          <a:latin typeface="Arial"/>
                        </a:rPr>
                        <a:t>Shape parsed = shape moved = shape drawn; no translation step</a:t>
                      </a:r>
                    </a:p>
                  </a:txBody>
                  <a:tcPr marL="82296" marR="82296" marT="41148" marB="41148" anchor="t">
                    <a:solidFill>
                      <a:srgbClr val="FFFFFF"/>
                    </a:solidFill>
                  </a:tcPr>
                </a:tc>
              </a:tr>
            </a:tbl>
          </a:graphicData>
        </a:graphic>
      </p:graphicFrame>
      <p:sp>
        <p:nvSpPr>
          <p:cNvPr id="7" name="TextBox 6"/>
          <p:cNvSpPr txBox="1"/>
          <p:nvPr/>
        </p:nvSpPr>
        <p:spPr>
          <a:xfrm>
            <a:off x="566928" y="6199632"/>
            <a:ext cx="11057839" cy="420624"/>
          </a:xfrm>
          <a:prstGeom prst="rect">
            <a:avLst/>
          </a:prstGeom>
          <a:noFill/>
        </p:spPr>
        <p:txBody>
          <a:bodyPr wrap="square" anchor="t" lIns="0" rIns="0" tIns="0" bIns="0">
            <a:spAutoFit/>
          </a:bodyPr>
          <a:lstStyle/>
          <a:p>
            <a:pPr algn="l">
              <a:spcAft>
                <a:spcPts val="0"/>
              </a:spcAft>
            </a:pPr>
            <a:r>
              <a:rPr sz="1050" b="0" i="0">
                <a:solidFill>
                  <a:srgbClr val="556A6C"/>
                </a:solidFill>
                <a:latin typeface="Arial"/>
              </a:rPr>
              <a:t>The WebAssembly row is why the distinction matters: a stage optimized alone is bounded by the stages around it.</a:t>
            </a:r>
          </a:p>
          <a:p>
            <a:pPr algn="l">
              <a:spcAft>
                <a:spcPts val="0"/>
              </a:spcAft>
            </a:pPr>
            <a:r>
              <a:rPr sz="1050" b="0" i="0">
                <a:solidFill>
                  <a:srgbClr val="556A6C"/>
                </a:solidFill>
                <a:latin typeface="Arial"/>
              </a:rPr>
              <a:t>The strategies that compound are the ones that change what crosses a boundary — columnar layout, the arena, and the zero-copy transport those two make possible.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66928"/>
            <a:ext cx="11057839" cy="237744"/>
          </a:xfrm>
          <a:prstGeom prst="rect">
            <a:avLst/>
          </a:prstGeom>
          <a:noFill/>
        </p:spPr>
        <p:txBody>
          <a:bodyPr wrap="square" anchor="t" lIns="0" rIns="0" tIns="0" bIns="0">
            <a:spAutoFit/>
          </a:bodyPr>
          <a:lstStyle/>
          <a:p>
            <a:pPr algn="l">
              <a:spcAft>
                <a:spcPts val="0"/>
              </a:spcAft>
            </a:pPr>
            <a:r>
              <a:rPr sz="1100" b="1" i="0">
                <a:solidFill>
                  <a:srgbClr val="0E6B62"/>
                </a:solidFill>
                <a:latin typeface="Arial"/>
              </a:rPr>
              <a:t>2 OF 2 — TRANSPORT AND RENDERER</a:t>
            </a:r>
          </a:p>
        </p:txBody>
      </p:sp>
      <p:sp>
        <p:nvSpPr>
          <p:cNvPr id="3" name="TextBox 2"/>
          <p:cNvSpPr txBox="1"/>
          <p:nvPr/>
        </p:nvSpPr>
        <p:spPr>
          <a:xfrm>
            <a:off x="566928" y="859536"/>
            <a:ext cx="11057839" cy="566928"/>
          </a:xfrm>
          <a:prstGeom prst="rect">
            <a:avLst/>
          </a:prstGeom>
          <a:noFill/>
        </p:spPr>
        <p:txBody>
          <a:bodyPr wrap="square" anchor="t" lIns="0" rIns="0" tIns="0" bIns="0">
            <a:spAutoFit/>
          </a:bodyPr>
          <a:lstStyle/>
          <a:p>
            <a:pPr algn="l">
              <a:spcAft>
                <a:spcPts val="0"/>
              </a:spcAft>
            </a:pPr>
            <a:r>
              <a:rPr sz="3000" b="1" i="0">
                <a:solidFill>
                  <a:srgbClr val="141C1E"/>
                </a:solidFill>
                <a:latin typeface="Arial"/>
              </a:rPr>
              <a:t>Techniques: what is requested, and what is drawn</a:t>
            </a:r>
          </a:p>
        </p:txBody>
      </p:sp>
      <p:sp>
        <p:nvSpPr>
          <p:cNvPr id="4" name="TextBox 3"/>
          <p:cNvSpPr txBox="1"/>
          <p:nvPr/>
        </p:nvSpPr>
        <p:spPr>
          <a:xfrm>
            <a:off x="566928" y="1463040"/>
            <a:ext cx="11057839" cy="457200"/>
          </a:xfrm>
          <a:prstGeom prst="rect">
            <a:avLst/>
          </a:prstGeom>
          <a:noFill/>
        </p:spPr>
        <p:txBody>
          <a:bodyPr wrap="square" anchor="t" lIns="0" rIns="0" tIns="0" bIns="0">
            <a:spAutoFit/>
          </a:bodyPr>
          <a:lstStyle/>
          <a:p>
            <a:pPr algn="l">
              <a:spcAft>
                <a:spcPts val="0"/>
              </a:spcAft>
            </a:pPr>
            <a:r>
              <a:rPr sz="1400" b="0" i="0">
                <a:solidFill>
                  <a:srgbClr val="556A6C"/>
                </a:solidFill>
                <a:latin typeface="Arial"/>
              </a:rPr>
              <a:t>Two changes to the request pattern, and the residency the layout makes possible.</a:t>
            </a:r>
          </a:p>
        </p:txBody>
      </p:sp>
      <p:sp>
        <p:nvSpPr>
          <p:cNvPr id="5" name="Rectangle 4"/>
          <p:cNvSpPr/>
          <p:nvPr/>
        </p:nvSpPr>
        <p:spPr>
          <a:xfrm>
            <a:off x="566928" y="1938528"/>
            <a:ext cx="11057839" cy="15240"/>
          </a:xfrm>
          <a:prstGeom prst="rect">
            <a:avLst/>
          </a:prstGeom>
          <a:solidFill>
            <a:srgbClr val="D5D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66928" y="2157984"/>
          <a:ext cx="11057838" cy="3456432"/>
        </p:xfrm>
        <a:graphic>
          <a:graphicData uri="http://schemas.openxmlformats.org/drawingml/2006/table">
            <a:tbl>
              <a:tblPr firstRow="1" bandRow="1">
                <a:tableStyleId>{5C22544A-7EE6-4342-B048-85BDC9FD1C3A}</a:tableStyleId>
              </a:tblPr>
              <a:tblGrid>
                <a:gridCol w="3317351"/>
                <a:gridCol w="3427930"/>
                <a:gridCol w="4312557"/>
              </a:tblGrid>
              <a:tr h="493776">
                <a:tc>
                  <a:txBody>
                    <a:bodyPr/>
                    <a:lstStyle/>
                    <a:p>
                      <a:r>
                        <a:rPr sz="1050" b="1">
                          <a:solidFill>
                            <a:srgbClr val="0E6B62"/>
                          </a:solidFill>
                          <a:latin typeface="Arial"/>
                        </a:rPr>
                        <a:t>Technique</a:t>
                      </a:r>
                    </a:p>
                  </a:txBody>
                  <a:tcPr marL="82296" marR="82296" marT="41148" marB="41148">
                    <a:solidFill>
                      <a:srgbClr val="EEF4F3"/>
                    </a:solidFill>
                  </a:tcPr>
                </a:tc>
                <a:tc>
                  <a:txBody>
                    <a:bodyPr/>
                    <a:lstStyle/>
                    <a:p>
                      <a:r>
                        <a:rPr sz="1050" b="1">
                          <a:solidFill>
                            <a:srgbClr val="0E6B62"/>
                          </a:solidFill>
                          <a:latin typeface="Arial"/>
                        </a:rPr>
                        <a:t>Replaces</a:t>
                      </a:r>
                    </a:p>
                  </a:txBody>
                  <a:tcPr marL="82296" marR="82296" marT="41148" marB="41148">
                    <a:solidFill>
                      <a:srgbClr val="EEF4F3"/>
                    </a:solidFill>
                  </a:tcPr>
                </a:tc>
                <a:tc>
                  <a:txBody>
                    <a:bodyPr/>
                    <a:lstStyle/>
                    <a:p>
                      <a:r>
                        <a:rPr sz="1050" b="1">
                          <a:solidFill>
                            <a:srgbClr val="0E6B62"/>
                          </a:solidFill>
                          <a:latin typeface="Arial"/>
                        </a:rPr>
                        <a:t>Measured effect</a:t>
                      </a:r>
                    </a:p>
                  </a:txBody>
                  <a:tcPr marL="82296" marR="82296" marT="41148" marB="41148">
                    <a:solidFill>
                      <a:srgbClr val="EEF4F3"/>
                    </a:solidFill>
                  </a:tcPr>
                </a:tc>
              </a:tr>
              <a:tr h="493776">
                <a:tc>
                  <a:txBody>
                    <a:bodyPr/>
                    <a:lstStyle/>
                    <a:p>
                      <a:r>
                        <a:rPr sz="1000" b="1">
                          <a:solidFill>
                            <a:srgbClr val="141C1E"/>
                          </a:solidFill>
                          <a:latin typeface="Arial"/>
                        </a:rPr>
                        <a:t>One read per byte range, shared between callers</a:t>
                      </a:r>
                    </a:p>
                  </a:txBody>
                  <a:tcPr marL="82296" marR="82296" marT="41148" marB="41148" anchor="t">
                    <a:solidFill>
                      <a:srgbClr val="FFFFFF"/>
                    </a:solidFill>
                  </a:tcPr>
                </a:tc>
                <a:tc>
                  <a:txBody>
                    <a:bodyPr/>
                    <a:lstStyle/>
                    <a:p>
                      <a:r>
                        <a:rPr sz="1000" b="0">
                          <a:solidFill>
                            <a:srgbClr val="141C1E"/>
                          </a:solidFill>
                          <a:latin typeface="Arial"/>
                        </a:rPr>
                        <a:t>One request per caller, cancelled by the first to abandon it</a:t>
                      </a:r>
                    </a:p>
                  </a:txBody>
                  <a:tcPr marL="82296" marR="82296" marT="41148" marB="41148" anchor="t">
                    <a:solidFill>
                      <a:srgbClr val="FFFFFF"/>
                    </a:solidFill>
                  </a:tcPr>
                </a:tc>
                <a:tc>
                  <a:txBody>
                    <a:bodyPr/>
                    <a:lstStyle/>
                    <a:p>
                      <a:r>
                        <a:rPr sz="1000" b="0">
                          <a:solidFill>
                            <a:srgbClr val="0E6B62"/>
                          </a:solidFill>
                          <a:latin typeface="Arial"/>
                        </a:rPr>
                        <a:t>No refetch or spurious failure when a neighbouring block is dropped</a:t>
                      </a:r>
                    </a:p>
                  </a:txBody>
                  <a:tcPr marL="82296" marR="82296" marT="41148" marB="41148" anchor="t">
                    <a:solidFill>
                      <a:srgbClr val="FFFFFF"/>
                    </a:solidFill>
                  </a:tcPr>
                </a:tc>
              </a:tr>
              <a:tr h="493776">
                <a:tc>
                  <a:txBody>
                    <a:bodyPr/>
                    <a:lstStyle/>
                    <a:p>
                      <a:r>
                        <a:rPr sz="1000" b="1">
                          <a:solidFill>
                            <a:srgbClr val="141C1E"/>
                          </a:solidFill>
                          <a:latin typeface="Arial"/>
                        </a:rPr>
                        <a:t>Coalesce many regions into one pass</a:t>
                      </a:r>
                    </a:p>
                  </a:txBody>
                  <a:tcPr marL="82296" marR="82296" marT="41148" marB="41148" anchor="t">
                    <a:solidFill>
                      <a:srgbClr val="FFFFFF"/>
                    </a:solidFill>
                  </a:tcPr>
                </a:tc>
                <a:tc>
                  <a:txBody>
                    <a:bodyPr/>
                    <a:lstStyle/>
                    <a:p>
                      <a:r>
                        <a:rPr sz="1000" b="0">
                          <a:solidFill>
                            <a:srgbClr val="141C1E"/>
                          </a:solidFill>
                          <a:latin typeface="Arial"/>
                        </a:rPr>
                        <a:t>One request per region</a:t>
                      </a:r>
                    </a:p>
                  </a:txBody>
                  <a:tcPr marL="82296" marR="82296" marT="41148" marB="41148" anchor="t">
                    <a:solidFill>
                      <a:srgbClr val="FFFFFF"/>
                    </a:solidFill>
                  </a:tcPr>
                </a:tc>
                <a:tc>
                  <a:txBody>
                    <a:bodyPr/>
                    <a:lstStyle/>
                    <a:p>
                      <a:r>
                        <a:rPr sz="1000" b="0">
                          <a:solidFill>
                            <a:srgbClr val="0E6B62"/>
                          </a:solidFill>
                          <a:latin typeface="Arial"/>
                        </a:rPr>
                        <a:t>25-chromosome overview: 27 range requests and 691 kB → 3 and 312 kB</a:t>
                      </a:r>
                    </a:p>
                  </a:txBody>
                  <a:tcPr marL="82296" marR="82296" marT="41148" marB="41148" anchor="t">
                    <a:solidFill>
                      <a:srgbClr val="FFFFFF"/>
                    </a:solidFill>
                  </a:tcPr>
                </a:tc>
              </a:tr>
              <a:tr h="493776">
                <a:tc>
                  <a:txBody>
                    <a:bodyPr/>
                    <a:lstStyle/>
                    <a:p>
                      <a:r>
                        <a:rPr sz="1000" b="1">
                          <a:solidFill>
                            <a:srgbClr val="141C1E"/>
                          </a:solidFill>
                          <a:latin typeface="Arial"/>
                        </a:rPr>
                        <a:t>One chunked, compressed store for many samples</a:t>
                      </a:r>
                    </a:p>
                  </a:txBody>
                  <a:tcPr marL="82296" marR="82296" marT="41148" marB="41148" anchor="t">
                    <a:solidFill>
                      <a:srgbClr val="FFFFFF"/>
                    </a:solidFill>
                  </a:tcPr>
                </a:tc>
                <a:tc>
                  <a:txBody>
                    <a:bodyPr/>
                    <a:lstStyle/>
                    <a:p>
                      <a:r>
                        <a:rPr sz="1000" b="0">
                          <a:solidFill>
                            <a:srgbClr val="141C1E"/>
                          </a:solidFill>
                          <a:latin typeface="Arial"/>
                        </a:rPr>
                        <a:t>One BigWig per sample, each latency-bound</a:t>
                      </a:r>
                    </a:p>
                  </a:txBody>
                  <a:tcPr marL="82296" marR="82296" marT="41148" marB="41148" anchor="t">
                    <a:solidFill>
                      <a:srgbClr val="FFFFFF"/>
                    </a:solidFill>
                  </a:tcPr>
                </a:tc>
                <a:tc>
                  <a:txBody>
                    <a:bodyPr/>
                    <a:lstStyle/>
                    <a:p>
                      <a:r>
                        <a:rPr sz="1000" b="0">
                          <a:solidFill>
                            <a:srgbClr val="0E6B62"/>
                          </a:solidFill>
                          <a:latin typeface="Arial"/>
                        </a:rPr>
                        <a:t>2,504 individuals: 15,048 requests / 24.5 s → 3 requests / 0.2 s</a:t>
                      </a:r>
                    </a:p>
                  </a:txBody>
                  <a:tcPr marL="82296" marR="82296" marT="41148" marB="41148" anchor="t">
                    <a:solidFill>
                      <a:srgbClr val="FFFFFF"/>
                    </a:solidFill>
                  </a:tcPr>
                </a:tc>
              </a:tr>
              <a:tr h="493776">
                <a:tc>
                  <a:txBody>
                    <a:bodyPr/>
                    <a:lstStyle/>
                    <a:p>
                      <a:r>
                        <a:rPr sz="1000" b="1">
                          <a:solidFill>
                            <a:srgbClr val="141C1E"/>
                          </a:solidFill>
                          <a:latin typeface="Arial"/>
                        </a:rPr>
                        <a:t>Absolute genomic coordinates resident on the GPU</a:t>
                      </a:r>
                    </a:p>
                  </a:txBody>
                  <a:tcPr marL="82296" marR="82296" marT="41148" marB="41148" anchor="t">
                    <a:solidFill>
                      <a:srgbClr val="FFFFFF"/>
                    </a:solidFill>
                  </a:tcPr>
                </a:tc>
                <a:tc>
                  <a:txBody>
                    <a:bodyPr/>
                    <a:lstStyle/>
                    <a:p>
                      <a:r>
                        <a:rPr sz="1000" b="0">
                          <a:solidFill>
                            <a:srgbClr val="141C1E"/>
                          </a:solidFill>
                          <a:latin typeface="Arial"/>
                        </a:rPr>
                        <a:t>Rendered output bound to a specific bpPerPx</a:t>
                      </a:r>
                    </a:p>
                  </a:txBody>
                  <a:tcPr marL="82296" marR="82296" marT="41148" marB="41148" anchor="t">
                    <a:solidFill>
                      <a:srgbClr val="FFFFFF"/>
                    </a:solidFill>
                  </a:tcPr>
                </a:tc>
                <a:tc>
                  <a:txBody>
                    <a:bodyPr/>
                    <a:lstStyle/>
                    <a:p>
                      <a:r>
                        <a:rPr sz="1000" b="0">
                          <a:solidFill>
                            <a:srgbClr val="0E6B62"/>
                          </a:solidFill>
                          <a:latin typeface="Arial"/>
                        </a:rPr>
                        <a:t>Pan, zoom, recolour and re-sort are shader parameter changes — no refetch</a:t>
                      </a:r>
                    </a:p>
                  </a:txBody>
                  <a:tcPr marL="82296" marR="82296" marT="41148" marB="41148" anchor="t">
                    <a:solidFill>
                      <a:srgbClr val="FFFFFF"/>
                    </a:solidFill>
                  </a:tcPr>
                </a:tc>
              </a:tr>
              <a:tr h="493776">
                <a:tc>
                  <a:txBody>
                    <a:bodyPr/>
                    <a:lstStyle/>
                    <a:p>
                      <a:r>
                        <a:rPr sz="1000" b="1">
                          <a:solidFill>
                            <a:srgbClr val="141C1E"/>
                          </a:solidFill>
                          <a:latin typeface="Arial"/>
                        </a:rPr>
                        <a:t>One shader source in Slang → WGSL + GLSL + buffer layout</a:t>
                      </a:r>
                    </a:p>
                  </a:txBody>
                  <a:tcPr marL="82296" marR="82296" marT="41148" marB="41148" anchor="t">
                    <a:solidFill>
                      <a:srgbClr val="FFFFFF"/>
                    </a:solidFill>
                  </a:tcPr>
                </a:tc>
                <a:tc>
                  <a:txBody>
                    <a:bodyPr/>
                    <a:lstStyle/>
                    <a:p>
                      <a:r>
                        <a:rPr sz="1000" b="0">
                          <a:solidFill>
                            <a:srgbClr val="141C1E"/>
                          </a:solidFill>
                          <a:latin typeface="Arial"/>
                        </a:rPr>
                        <a:t>Two hand-maintained implementations kept in step</a:t>
                      </a:r>
                    </a:p>
                  </a:txBody>
                  <a:tcPr marL="82296" marR="82296" marT="41148" marB="41148" anchor="t">
                    <a:solidFill>
                      <a:srgbClr val="FFFFFF"/>
                    </a:solidFill>
                  </a:tcPr>
                </a:tc>
                <a:tc>
                  <a:txBody>
                    <a:bodyPr/>
                    <a:lstStyle/>
                    <a:p>
                      <a:r>
                        <a:rPr sz="1000" b="0">
                          <a:solidFill>
                            <a:srgbClr val="0E6B62"/>
                          </a:solidFill>
                          <a:latin typeface="Arial"/>
                        </a:rPr>
                        <a:t>The encoder and the shader that reads it cannot disagree</a:t>
                      </a:r>
                    </a:p>
                  </a:txBody>
                  <a:tcPr marL="82296" marR="82296" marT="41148" marB="41148" anchor="t">
                    <a:solidFill>
                      <a:srgbClr val="FFFFFF"/>
                    </a:solidFill>
                  </a:tcPr>
                </a:tc>
              </a:tr>
              <a:tr h="493776">
                <a:tc>
                  <a:txBody>
                    <a:bodyPr/>
                    <a:lstStyle/>
                    <a:p>
                      <a:r>
                        <a:rPr sz="1000" b="1">
                          <a:solidFill>
                            <a:srgbClr val="141C1E"/>
                          </a:solidFill>
                          <a:latin typeface="Arial"/>
                        </a:rPr>
                        <a:t>WebGPU compute over the resident genotype matrix</a:t>
                      </a:r>
                    </a:p>
                  </a:txBody>
                  <a:tcPr marL="82296" marR="82296" marT="41148" marB="41148" anchor="t">
                    <a:solidFill>
                      <a:srgbClr val="FFFFFF"/>
                    </a:solidFill>
                  </a:tcPr>
                </a:tc>
                <a:tc>
                  <a:txBody>
                    <a:bodyPr/>
                    <a:lstStyle/>
                    <a:p>
                      <a:r>
                        <a:rPr sz="1000" b="0">
                          <a:solidFill>
                            <a:srgbClr val="141C1E"/>
                          </a:solidFill>
                          <a:latin typeface="Arial"/>
                        </a:rPr>
                        <a:t>A precomputed file fixing panel, metric and window when written</a:t>
                      </a:r>
                    </a:p>
                  </a:txBody>
                  <a:tcPr marL="82296" marR="82296" marT="41148" marB="41148" anchor="t">
                    <a:solidFill>
                      <a:srgbClr val="FFFFFF"/>
                    </a:solidFill>
                  </a:tcPr>
                </a:tc>
                <a:tc>
                  <a:txBody>
                    <a:bodyPr/>
                    <a:lstStyle/>
                    <a:p>
                      <a:r>
                        <a:rPr sz="1000" b="0">
                          <a:solidFill>
                            <a:srgbClr val="0E6B62"/>
                          </a:solidFill>
                          <a:latin typeface="Arial"/>
                        </a:rPr>
                        <a:t>Those three become analytical choices; CPU fallback below threshold</a:t>
                      </a:r>
                    </a:p>
                  </a:txBody>
                  <a:tcPr marL="82296" marR="82296" marT="41148" marB="41148" anchor="t">
                    <a:solidFill>
                      <a:srgbClr val="FFFFFF"/>
                    </a:solidFill>
                  </a:tcPr>
                </a:tc>
              </a:tr>
            </a:tbl>
          </a:graphicData>
        </a:graphic>
      </p:graphicFrame>
      <p:sp>
        <p:nvSpPr>
          <p:cNvPr id="7" name="TextBox 6"/>
          <p:cNvSpPr txBox="1"/>
          <p:nvPr/>
        </p:nvSpPr>
        <p:spPr>
          <a:xfrm>
            <a:off x="566928" y="6199632"/>
            <a:ext cx="11057839" cy="420624"/>
          </a:xfrm>
          <a:prstGeom prst="rect">
            <a:avLst/>
          </a:prstGeom>
          <a:noFill/>
        </p:spPr>
        <p:txBody>
          <a:bodyPr wrap="square" anchor="t" lIns="0" rIns="0" tIns="0" bIns="0">
            <a:spAutoFit/>
          </a:bodyPr>
          <a:lstStyle/>
          <a:p>
            <a:pPr algn="l">
              <a:spcAft>
                <a:spcPts val="0"/>
              </a:spcAft>
            </a:pPr>
            <a:r>
              <a:rPr sz="1050" b="0" i="0">
                <a:solidFill>
                  <a:srgbClr val="556A6C"/>
                </a:solidFill>
                <a:latin typeface="Arial"/>
              </a:rPr>
              <a:t>Latency was the cost on the multi-sample path, not bytes: 48.4 MB over 15,048 requests against 0.22 MB over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66928"/>
            <a:ext cx="11057839" cy="237744"/>
          </a:xfrm>
          <a:prstGeom prst="rect">
            <a:avLst/>
          </a:prstGeom>
          <a:noFill/>
        </p:spPr>
        <p:txBody>
          <a:bodyPr wrap="square" anchor="t" lIns="0" rIns="0" tIns="0" bIns="0">
            <a:spAutoFit/>
          </a:bodyPr>
          <a:lstStyle/>
          <a:p>
            <a:pPr algn="l">
              <a:spcAft>
                <a:spcPts val="0"/>
              </a:spcAft>
            </a:pPr>
            <a:r>
              <a:rPr sz="1100" b="1" i="0">
                <a:solidFill>
                  <a:srgbClr val="0E6B62"/>
                </a:solidFill>
                <a:latin typeface="Arial"/>
              </a:rPr>
              <a:t>RESULT — INITIAL LOAD</a:t>
            </a:r>
          </a:p>
        </p:txBody>
      </p:sp>
      <p:sp>
        <p:nvSpPr>
          <p:cNvPr id="3" name="TextBox 2"/>
          <p:cNvSpPr txBox="1"/>
          <p:nvPr/>
        </p:nvSpPr>
        <p:spPr>
          <a:xfrm>
            <a:off x="566928" y="859536"/>
            <a:ext cx="11057839" cy="566928"/>
          </a:xfrm>
          <a:prstGeom prst="rect">
            <a:avLst/>
          </a:prstGeom>
          <a:noFill/>
        </p:spPr>
        <p:txBody>
          <a:bodyPr wrap="square" anchor="t" lIns="0" rIns="0" tIns="0" bIns="0">
            <a:spAutoFit/>
          </a:bodyPr>
          <a:lstStyle/>
          <a:p>
            <a:pPr algn="l">
              <a:spcAft>
                <a:spcPts val="0"/>
              </a:spcAft>
            </a:pPr>
            <a:r>
              <a:rPr sz="3000" b="1" i="0">
                <a:solidFill>
                  <a:srgbClr val="141C1E"/>
                </a:solidFill>
                <a:latin typeface="Arial"/>
              </a:rPr>
              <a:t>End to end: cold load to rendered reads</a:t>
            </a:r>
          </a:p>
        </p:txBody>
      </p:sp>
      <p:sp>
        <p:nvSpPr>
          <p:cNvPr id="4" name="TextBox 3"/>
          <p:cNvSpPr txBox="1"/>
          <p:nvPr/>
        </p:nvSpPr>
        <p:spPr>
          <a:xfrm>
            <a:off x="566928" y="1463040"/>
            <a:ext cx="11057839" cy="457200"/>
          </a:xfrm>
          <a:prstGeom prst="rect">
            <a:avLst/>
          </a:prstGeom>
          <a:noFill/>
        </p:spPr>
        <p:txBody>
          <a:bodyPr wrap="square" anchor="t" lIns="0" rIns="0" tIns="0" bIns="0">
            <a:spAutoFit/>
          </a:bodyPr>
          <a:lstStyle/>
          <a:p>
            <a:pPr algn="l">
              <a:spcAft>
                <a:spcPts val="0"/>
              </a:spcAft>
            </a:pPr>
            <a:r>
              <a:rPr sz="1400" b="0" i="0">
                <a:solidFill>
                  <a:srgbClr val="556A6C"/>
                </a:solidFill>
                <a:latin typeface="Arial"/>
              </a:rPr>
              <a:t>Navigation → render-complete, median of 6 runs after a warmup. Lower is better.</a:t>
            </a:r>
          </a:p>
        </p:txBody>
      </p:sp>
      <p:sp>
        <p:nvSpPr>
          <p:cNvPr id="5" name="Rectangle 4"/>
          <p:cNvSpPr/>
          <p:nvPr/>
        </p:nvSpPr>
        <p:spPr>
          <a:xfrm>
            <a:off x="566928" y="1938528"/>
            <a:ext cx="11057839" cy="15240"/>
          </a:xfrm>
          <a:prstGeom prst="rect">
            <a:avLst/>
          </a:prstGeom>
          <a:solidFill>
            <a:srgbClr val="D5D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old-load.png"/>
          <p:cNvPicPr>
            <a:picLocks noChangeAspect="1"/>
          </p:cNvPicPr>
          <p:nvPr/>
        </p:nvPicPr>
        <p:blipFill>
          <a:blip r:embed="rId2"/>
          <a:stretch>
            <a:fillRect/>
          </a:stretch>
        </p:blipFill>
        <p:spPr>
          <a:xfrm>
            <a:off x="1754314" y="2212848"/>
            <a:ext cx="8683067" cy="3867912"/>
          </a:xfrm>
          <a:prstGeom prst="rect">
            <a:avLst/>
          </a:prstGeom>
        </p:spPr>
      </p:pic>
      <p:sp>
        <p:nvSpPr>
          <p:cNvPr id="7" name="TextBox 6"/>
          <p:cNvSpPr txBox="1"/>
          <p:nvPr/>
        </p:nvSpPr>
        <p:spPr>
          <a:xfrm>
            <a:off x="566928" y="6199632"/>
            <a:ext cx="11057839" cy="420624"/>
          </a:xfrm>
          <a:prstGeom prst="rect">
            <a:avLst/>
          </a:prstGeom>
          <a:noFill/>
        </p:spPr>
        <p:txBody>
          <a:bodyPr wrap="square" anchor="t" lIns="0" rIns="0" tIns="0" bIns="0">
            <a:spAutoFit/>
          </a:bodyPr>
          <a:lstStyle/>
          <a:p>
            <a:pPr algn="l">
              <a:spcAft>
                <a:spcPts val="0"/>
              </a:spcAft>
            </a:pPr>
            <a:r>
              <a:rPr sz="1050" b="0" i="0">
                <a:solidFill>
                  <a:srgbClr val="556A6C"/>
                </a:solidFill>
                <a:latin typeface="Arial"/>
              </a:rPr>
              <a:t>Fetch-dominated, so it understates the renderer difference. Every build parses in a worker and pulls the same bytes.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66928"/>
            <a:ext cx="11057839" cy="237744"/>
          </a:xfrm>
          <a:prstGeom prst="rect">
            <a:avLst/>
          </a:prstGeom>
          <a:noFill/>
        </p:spPr>
        <p:txBody>
          <a:bodyPr wrap="square" anchor="t" lIns="0" rIns="0" tIns="0" bIns="0">
            <a:spAutoFit/>
          </a:bodyPr>
          <a:lstStyle/>
          <a:p>
            <a:pPr algn="l">
              <a:spcAft>
                <a:spcPts val="0"/>
              </a:spcAft>
            </a:pPr>
            <a:r>
              <a:rPr sz="1100" b="1" i="0">
                <a:solidFill>
                  <a:srgbClr val="0E6B62"/>
                </a:solidFill>
                <a:latin typeface="Arial"/>
              </a:rPr>
              <a:t>RESULT — INITIAL LOAD</a:t>
            </a:r>
          </a:p>
        </p:txBody>
      </p:sp>
      <p:sp>
        <p:nvSpPr>
          <p:cNvPr id="3" name="TextBox 2"/>
          <p:cNvSpPr txBox="1"/>
          <p:nvPr/>
        </p:nvSpPr>
        <p:spPr>
          <a:xfrm>
            <a:off x="566928" y="859536"/>
            <a:ext cx="11057839" cy="566928"/>
          </a:xfrm>
          <a:prstGeom prst="rect">
            <a:avLst/>
          </a:prstGeom>
          <a:noFill/>
        </p:spPr>
        <p:txBody>
          <a:bodyPr wrap="square" anchor="t" lIns="0" rIns="0" tIns="0" bIns="0">
            <a:spAutoFit/>
          </a:bodyPr>
          <a:lstStyle/>
          <a:p>
            <a:pPr algn="l">
              <a:spcAft>
                <a:spcPts val="0"/>
              </a:spcAft>
            </a:pPr>
            <a:r>
              <a:rPr sz="3000" b="1" i="0">
                <a:solidFill>
                  <a:srgbClr val="141C1E"/>
                </a:solidFill>
                <a:latin typeface="Arial"/>
              </a:rPr>
              <a:t>Against the version the paper benchmarked</a:t>
            </a:r>
          </a:p>
        </p:txBody>
      </p:sp>
      <p:sp>
        <p:nvSpPr>
          <p:cNvPr id="4" name="TextBox 3"/>
          <p:cNvSpPr txBox="1"/>
          <p:nvPr/>
        </p:nvSpPr>
        <p:spPr>
          <a:xfrm>
            <a:off x="566928" y="1463040"/>
            <a:ext cx="11057839" cy="457200"/>
          </a:xfrm>
          <a:prstGeom prst="rect">
            <a:avLst/>
          </a:prstGeom>
          <a:noFill/>
        </p:spPr>
        <p:txBody>
          <a:bodyPr wrap="square" anchor="t" lIns="0" rIns="0" tIns="0" bIns="0">
            <a:spAutoFit/>
          </a:bodyPr>
          <a:lstStyle/>
          <a:p>
            <a:pPr algn="l">
              <a:spcAft>
                <a:spcPts val="0"/>
              </a:spcAft>
            </a:pPr>
            <a:r>
              <a:rPr sz="1400" b="0" i="0">
                <a:solidFill>
                  <a:srgbClr val="556A6C"/>
                </a:solidFill>
                <a:latin typeface="Arial"/>
              </a:rPr>
              <a:t>Cold-load median of v2.4.0 ÷ median of current HEAD.</a:t>
            </a:r>
          </a:p>
        </p:txBody>
      </p:sp>
      <p:sp>
        <p:nvSpPr>
          <p:cNvPr id="5" name="Rectangle 4"/>
          <p:cNvSpPr/>
          <p:nvPr/>
        </p:nvSpPr>
        <p:spPr>
          <a:xfrm>
            <a:off x="566928" y="1938528"/>
            <a:ext cx="11057839" cy="15240"/>
          </a:xfrm>
          <a:prstGeom prst="rect">
            <a:avLst/>
          </a:prstGeom>
          <a:solidFill>
            <a:srgbClr val="D5D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peedup-vs-published.png"/>
          <p:cNvPicPr>
            <a:picLocks noChangeAspect="1"/>
          </p:cNvPicPr>
          <p:nvPr/>
        </p:nvPicPr>
        <p:blipFill>
          <a:blip r:embed="rId2"/>
          <a:stretch>
            <a:fillRect/>
          </a:stretch>
        </p:blipFill>
        <p:spPr>
          <a:xfrm>
            <a:off x="2101808" y="2212848"/>
            <a:ext cx="7988079" cy="3867912"/>
          </a:xfrm>
          <a:prstGeom prst="rect">
            <a:avLst/>
          </a:prstGeom>
        </p:spPr>
      </p:pic>
      <p:sp>
        <p:nvSpPr>
          <p:cNvPr id="7" name="TextBox 6"/>
          <p:cNvSpPr txBox="1"/>
          <p:nvPr/>
        </p:nvSpPr>
        <p:spPr>
          <a:xfrm>
            <a:off x="566928" y="6199632"/>
            <a:ext cx="11057839" cy="420624"/>
          </a:xfrm>
          <a:prstGeom prst="rect">
            <a:avLst/>
          </a:prstGeom>
          <a:noFill/>
        </p:spPr>
        <p:txBody>
          <a:bodyPr wrap="square" anchor="t" lIns="0" rIns="0" tIns="0" bIns="0">
            <a:spAutoFit/>
          </a:bodyPr>
          <a:lstStyle/>
          <a:p>
            <a:pPr algn="l">
              <a:spcAft>
                <a:spcPts val="0"/>
              </a:spcAft>
            </a:pPr>
            <a:r>
              <a:rPr sz="1050" b="0" i="0">
                <a:solidFill>
                  <a:srgbClr val="556A6C"/>
                </a:solidFill>
                <a:latin typeface="Arial"/>
              </a:rPr>
              <a:t>Cumulative, not isolated: three years separate v2.4.0 from HEAD and almost none of it is the renderer.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66928"/>
            <a:ext cx="11057839" cy="237744"/>
          </a:xfrm>
          <a:prstGeom prst="rect">
            <a:avLst/>
          </a:prstGeom>
          <a:noFill/>
        </p:spPr>
        <p:txBody>
          <a:bodyPr wrap="square" anchor="t" lIns="0" rIns="0" tIns="0" bIns="0">
            <a:spAutoFit/>
          </a:bodyPr>
          <a:lstStyle/>
          <a:p>
            <a:pPr algn="l">
              <a:spcAft>
                <a:spcPts val="0"/>
              </a:spcAft>
            </a:pPr>
            <a:r>
              <a:rPr sz="1100" b="1" i="0">
                <a:solidFill>
                  <a:srgbClr val="0E6B62"/>
                </a:solidFill>
                <a:latin typeface="Arial"/>
              </a:rPr>
              <a:t>RESULT — INTERACTIVITY</a:t>
            </a:r>
          </a:p>
        </p:txBody>
      </p:sp>
      <p:sp>
        <p:nvSpPr>
          <p:cNvPr id="3" name="TextBox 2"/>
          <p:cNvSpPr txBox="1"/>
          <p:nvPr/>
        </p:nvSpPr>
        <p:spPr>
          <a:xfrm>
            <a:off x="566928" y="859536"/>
            <a:ext cx="11057839" cy="566928"/>
          </a:xfrm>
          <a:prstGeom prst="rect">
            <a:avLst/>
          </a:prstGeom>
          <a:noFill/>
        </p:spPr>
        <p:txBody>
          <a:bodyPr wrap="square" anchor="t" lIns="0" rIns="0" tIns="0" bIns="0">
            <a:spAutoFit/>
          </a:bodyPr>
          <a:lstStyle/>
          <a:p>
            <a:pPr algn="l">
              <a:spcAft>
                <a:spcPts val="0"/>
              </a:spcAft>
            </a:pPr>
            <a:r>
              <a:rPr sz="3000" b="1" i="0">
                <a:solidFill>
                  <a:srgbClr val="141C1E"/>
                </a:solidFill>
                <a:latin typeface="Arial"/>
              </a:rPr>
              <a:t>What an interaction costs you</a:t>
            </a:r>
          </a:p>
        </p:txBody>
      </p:sp>
      <p:sp>
        <p:nvSpPr>
          <p:cNvPr id="4" name="TextBox 3"/>
          <p:cNvSpPr txBox="1"/>
          <p:nvPr/>
        </p:nvSpPr>
        <p:spPr>
          <a:xfrm>
            <a:off x="566928" y="1463040"/>
            <a:ext cx="11057839" cy="457200"/>
          </a:xfrm>
          <a:prstGeom prst="rect">
            <a:avLst/>
          </a:prstGeom>
          <a:noFill/>
        </p:spPr>
        <p:txBody>
          <a:bodyPr wrap="square" anchor="t" lIns="0" rIns="0" tIns="0" bIns="0">
            <a:spAutoFit/>
          </a:bodyPr>
          <a:lstStyle/>
          <a:p>
            <a:pPr algn="l">
              <a:spcAft>
                <a:spcPts val="0"/>
              </a:spcAft>
            </a:pPr>
            <a:r>
              <a:rPr sz="1400" b="0" i="0">
                <a:solidFill>
                  <a:srgbClr val="556A6C"/>
                </a:solidFill>
                <a:latin typeface="Arial"/>
              </a:rPr>
              <a:t>Time-to-content: seconds a loading indicator sits on the track before correct content is back.</a:t>
            </a:r>
          </a:p>
        </p:txBody>
      </p:sp>
      <p:sp>
        <p:nvSpPr>
          <p:cNvPr id="5" name="Rectangle 4"/>
          <p:cNvSpPr/>
          <p:nvPr/>
        </p:nvSpPr>
        <p:spPr>
          <a:xfrm>
            <a:off x="566928" y="1938528"/>
            <a:ext cx="11057839" cy="15240"/>
          </a:xfrm>
          <a:prstGeom prst="rect">
            <a:avLst/>
          </a:prstGeom>
          <a:solidFill>
            <a:srgbClr val="D5D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interaction.png"/>
          <p:cNvPicPr>
            <a:picLocks noChangeAspect="1"/>
          </p:cNvPicPr>
          <p:nvPr/>
        </p:nvPicPr>
        <p:blipFill>
          <a:blip r:embed="rId2"/>
          <a:stretch>
            <a:fillRect/>
          </a:stretch>
        </p:blipFill>
        <p:spPr>
          <a:xfrm>
            <a:off x="2771861" y="2212848"/>
            <a:ext cx="6647973" cy="3867912"/>
          </a:xfrm>
          <a:prstGeom prst="rect">
            <a:avLst/>
          </a:prstGeom>
        </p:spPr>
      </p:pic>
      <p:sp>
        <p:nvSpPr>
          <p:cNvPr id="7" name="TextBox 6"/>
          <p:cNvSpPr txBox="1"/>
          <p:nvPr/>
        </p:nvSpPr>
        <p:spPr>
          <a:xfrm>
            <a:off x="566928" y="6199632"/>
            <a:ext cx="11057839" cy="420624"/>
          </a:xfrm>
          <a:prstGeom prst="rect">
            <a:avLst/>
          </a:prstGeom>
          <a:noFill/>
        </p:spPr>
        <p:txBody>
          <a:bodyPr wrap="square" anchor="t" lIns="0" rIns="0" tIns="0" bIns="0">
            <a:spAutoFit/>
          </a:bodyPr>
          <a:lstStyle/>
          <a:p>
            <a:pPr algn="l">
              <a:spcAft>
                <a:spcPts val="0"/>
              </a:spcAft>
            </a:pPr>
            <a:r>
              <a:rPr sz="1050" b="0" i="0">
                <a:solidFill>
                  <a:srgbClr val="556A6C"/>
                </a:solidFill>
                <a:latin typeface="Arial"/>
              </a:rPr>
              <a:t>Zoom in is the current renderer's best case and pan its worst. On a pan the region is new to both, so both pay the fetch.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66928"/>
            <a:ext cx="11057839" cy="237744"/>
          </a:xfrm>
          <a:prstGeom prst="rect">
            <a:avLst/>
          </a:prstGeom>
          <a:noFill/>
        </p:spPr>
        <p:txBody>
          <a:bodyPr wrap="square" anchor="t" lIns="0" rIns="0" tIns="0" bIns="0">
            <a:spAutoFit/>
          </a:bodyPr>
          <a:lstStyle/>
          <a:p>
            <a:pPr algn="l">
              <a:spcAft>
                <a:spcPts val="0"/>
              </a:spcAft>
            </a:pPr>
            <a:r>
              <a:rPr sz="1100" b="1" i="0">
                <a:solidFill>
                  <a:srgbClr val="0E6B62"/>
                </a:solidFill>
                <a:latin typeface="Arial"/>
              </a:rPr>
              <a:t>RESULT — DECODING</a:t>
            </a:r>
          </a:p>
        </p:txBody>
      </p:sp>
      <p:sp>
        <p:nvSpPr>
          <p:cNvPr id="3" name="TextBox 2"/>
          <p:cNvSpPr txBox="1"/>
          <p:nvPr/>
        </p:nvSpPr>
        <p:spPr>
          <a:xfrm>
            <a:off x="566928" y="859536"/>
            <a:ext cx="11057839" cy="566928"/>
          </a:xfrm>
          <a:prstGeom prst="rect">
            <a:avLst/>
          </a:prstGeom>
          <a:noFill/>
        </p:spPr>
        <p:txBody>
          <a:bodyPr wrap="square" anchor="t" lIns="0" rIns="0" tIns="0" bIns="0">
            <a:spAutoFit/>
          </a:bodyPr>
          <a:lstStyle/>
          <a:p>
            <a:pPr algn="l">
              <a:spcAft>
                <a:spcPts val="0"/>
              </a:spcAft>
            </a:pPr>
            <a:r>
              <a:rPr sz="3000" b="1" i="0">
                <a:solidFill>
                  <a:srgbClr val="141C1E"/>
                </a:solidFill>
                <a:latin typeface="Arial"/>
              </a:rPr>
              <a:t>The parser layer underneath</a:t>
            </a:r>
          </a:p>
        </p:txBody>
      </p:sp>
      <p:sp>
        <p:nvSpPr>
          <p:cNvPr id="4" name="TextBox 3"/>
          <p:cNvSpPr txBox="1"/>
          <p:nvPr/>
        </p:nvSpPr>
        <p:spPr>
          <a:xfrm>
            <a:off x="566928" y="1463040"/>
            <a:ext cx="11057839" cy="457200"/>
          </a:xfrm>
          <a:prstGeom prst="rect">
            <a:avLst/>
          </a:prstGeom>
          <a:noFill/>
        </p:spPr>
        <p:txBody>
          <a:bodyPr wrap="square" anchor="t" lIns="0" rIns="0" tIns="0" bIns="0">
            <a:spAutoFit/>
          </a:bodyPr>
          <a:lstStyle/>
          <a:p>
            <a:pPr algn="l">
              <a:spcAft>
                <a:spcPts val="0"/>
              </a:spcAft>
            </a:pPr>
            <a:r>
              <a:rPr sz="1400" b="0" i="0">
                <a:solidFill>
                  <a:srgbClr val="556A6C"/>
                </a:solidFill>
                <a:latin typeface="Arial"/>
              </a:rPr>
              <a:t>Decode only — no browser, no GPU. 2023 release against current, both built from source at pinned tags.</a:t>
            </a:r>
          </a:p>
        </p:txBody>
      </p:sp>
      <p:sp>
        <p:nvSpPr>
          <p:cNvPr id="5" name="Rectangle 4"/>
          <p:cNvSpPr/>
          <p:nvPr/>
        </p:nvSpPr>
        <p:spPr>
          <a:xfrm>
            <a:off x="566928" y="1938528"/>
            <a:ext cx="11057839" cy="15240"/>
          </a:xfrm>
          <a:prstGeom prst="rect">
            <a:avLst/>
          </a:prstGeom>
          <a:solidFill>
            <a:srgbClr val="D5D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arsers.png"/>
          <p:cNvPicPr>
            <a:picLocks noChangeAspect="1"/>
          </p:cNvPicPr>
          <p:nvPr/>
        </p:nvPicPr>
        <p:blipFill>
          <a:blip r:embed="rId2"/>
          <a:stretch>
            <a:fillRect/>
          </a:stretch>
        </p:blipFill>
        <p:spPr>
          <a:xfrm>
            <a:off x="821422" y="2212848"/>
            <a:ext cx="10548850" cy="3867911"/>
          </a:xfrm>
          <a:prstGeom prst="rect">
            <a:avLst/>
          </a:prstGeom>
        </p:spPr>
      </p:pic>
      <p:sp>
        <p:nvSpPr>
          <p:cNvPr id="7" name="TextBox 6"/>
          <p:cNvSpPr txBox="1"/>
          <p:nvPr/>
        </p:nvSpPr>
        <p:spPr>
          <a:xfrm>
            <a:off x="566928" y="6199632"/>
            <a:ext cx="11057839" cy="420624"/>
          </a:xfrm>
          <a:prstGeom prst="rect">
            <a:avLst/>
          </a:prstGeom>
          <a:noFill/>
        </p:spPr>
        <p:txBody>
          <a:bodyPr wrap="square" anchor="t" lIns="0" rIns="0" tIns="0" bIns="0">
            <a:spAutoFit/>
          </a:bodyPr>
          <a:lstStyle/>
          <a:p>
            <a:pPr algn="l">
              <a:spcAft>
                <a:spcPts val="0"/>
              </a:spcAft>
            </a:pPr>
            <a:r>
              <a:rPr sz="1050" b="0" i="0">
                <a:solidFill>
                  <a:srgbClr val="556A6C"/>
                </a:solidFill>
                <a:latin typeface="Arial"/>
              </a:rPr>
              <a:t>BigWig is the honest exception: 1.1–1.3× at 20x and 6–22% slower above it, on 1–3 ms operations.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66928"/>
            <a:ext cx="11057839" cy="237744"/>
          </a:xfrm>
          <a:prstGeom prst="rect">
            <a:avLst/>
          </a:prstGeom>
          <a:noFill/>
        </p:spPr>
        <p:txBody>
          <a:bodyPr wrap="square" anchor="t" lIns="0" rIns="0" tIns="0" bIns="0">
            <a:spAutoFit/>
          </a:bodyPr>
          <a:lstStyle/>
          <a:p>
            <a:pPr algn="l">
              <a:spcAft>
                <a:spcPts val="0"/>
              </a:spcAft>
            </a:pPr>
            <a:r>
              <a:rPr sz="1100" b="1" i="0">
                <a:solidFill>
                  <a:srgbClr val="0E6B62"/>
                </a:solidFill>
                <a:latin typeface="Arial"/>
              </a:rPr>
              <a:t>READ THIS BEFORE QUOTING A FIGURE</a:t>
            </a:r>
          </a:p>
        </p:txBody>
      </p:sp>
      <p:sp>
        <p:nvSpPr>
          <p:cNvPr id="3" name="TextBox 2"/>
          <p:cNvSpPr txBox="1"/>
          <p:nvPr/>
        </p:nvSpPr>
        <p:spPr>
          <a:xfrm>
            <a:off x="566928" y="859536"/>
            <a:ext cx="11057839" cy="566928"/>
          </a:xfrm>
          <a:prstGeom prst="rect">
            <a:avLst/>
          </a:prstGeom>
          <a:noFill/>
        </p:spPr>
        <p:txBody>
          <a:bodyPr wrap="square" anchor="t" lIns="0" rIns="0" tIns="0" bIns="0">
            <a:spAutoFit/>
          </a:bodyPr>
          <a:lstStyle/>
          <a:p>
            <a:pPr algn="l">
              <a:spcAft>
                <a:spcPts val="0"/>
              </a:spcAft>
            </a:pPr>
            <a:r>
              <a:rPr sz="3000" b="1" i="0">
                <a:solidFill>
                  <a:srgbClr val="141C1E"/>
                </a:solidFill>
                <a:latin typeface="Arial"/>
              </a:rPr>
              <a:t>What these numbers are, and are not</a:t>
            </a:r>
          </a:p>
        </p:txBody>
      </p:sp>
      <p:sp>
        <p:nvSpPr>
          <p:cNvPr id="4" name="Rectangle 3"/>
          <p:cNvSpPr/>
          <p:nvPr/>
        </p:nvSpPr>
        <p:spPr>
          <a:xfrm>
            <a:off x="566928" y="1463040"/>
            <a:ext cx="11057839" cy="15240"/>
          </a:xfrm>
          <a:prstGeom prst="rect">
            <a:avLst/>
          </a:prstGeom>
          <a:solidFill>
            <a:srgbClr val="D5DF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938528"/>
            <a:ext cx="10881360" cy="4023360"/>
          </a:xfrm>
          <a:prstGeom prst="rect">
            <a:avLst/>
          </a:prstGeom>
          <a:noFill/>
        </p:spPr>
        <p:txBody>
          <a:bodyPr wrap="square" anchor="t" lIns="0" rIns="0" tIns="0" bIns="0">
            <a:spAutoFit/>
          </a:bodyPr>
          <a:lstStyle/>
          <a:p>
            <a:pPr algn="l">
              <a:spcAft>
                <a:spcPts val="400"/>
              </a:spcAft>
            </a:pPr>
            <a:r>
              <a:rPr sz="1700" b="1" i="0">
                <a:solidFill>
                  <a:srgbClr val="B04A2C"/>
                </a:solidFill>
                <a:latin typeface="Arial"/>
              </a:rPr>
              <a:t>The machine was not idle.</a:t>
            </a:r>
          </a:p>
          <a:p>
            <a:pPr algn="l">
              <a:spcAft>
                <a:spcPts val="1500"/>
              </a:spcAft>
            </a:pPr>
            <a:r>
              <a:rPr sz="1400" b="0" i="0">
                <a:solidFill>
                  <a:srgbClr val="141C1E"/>
                </a:solidFill>
                <a:latin typeface="Arial"/>
              </a:rPr>
              <a:t>The cold-load rows were taken at 1-minute load 7–28 from unrelated jobs. This repo marks anything above 4.0 unusable, so the absolute seconds are not quotable. The four builds are measured back to back within each case, so a spike lands on all of them and the ratios survive it better than the values do.</a:t>
            </a:r>
          </a:p>
          <a:p>
            <a:pPr algn="l">
              <a:spcAft>
                <a:spcPts val="400"/>
              </a:spcAft>
            </a:pPr>
            <a:r>
              <a:rPr sz="1700" b="1" i="0">
                <a:solidFill>
                  <a:srgbClr val="B04A2C"/>
                </a:solidFill>
                <a:latin typeface="Arial"/>
              </a:rPr>
              <a:t>The zoom table has no v2.4.0 column.</a:t>
            </a:r>
          </a:p>
          <a:p>
            <a:pPr algn="l">
              <a:spcAft>
                <a:spcPts val="1500"/>
              </a:spcAft>
            </a:pPr>
            <a:r>
              <a:rPr sz="1400" b="0" i="0">
                <a:solidFill>
                  <a:srgbClr val="141C1E"/>
                </a:solidFill>
                <a:latin typeface="Arial"/>
              </a:rPr>
              <a:t>The loading-indicator detector matched wording v2.4.0 does not use, so it scored the 2023 build 0 ms on every zoom — a perfect result produced by the instrument missing. Fixed, then found to break the 4.3.0 column the other way. The column is owed, not delivered.</a:t>
            </a:r>
          </a:p>
          <a:p>
            <a:pPr algn="l">
              <a:spcAft>
                <a:spcPts val="400"/>
              </a:spcAft>
            </a:pPr>
            <a:r>
              <a:rPr sz="1700" b="1" i="0">
                <a:solidFill>
                  <a:srgbClr val="B04A2C"/>
                </a:solidFill>
                <a:latin typeface="Arial"/>
              </a:rPr>
              <a:t>Cumulative, not isolated.</a:t>
            </a:r>
          </a:p>
          <a:p>
            <a:pPr algn="l">
              <a:spcAft>
                <a:spcPts val="1500"/>
              </a:spcAft>
            </a:pPr>
            <a:r>
              <a:rPr sz="1400" b="0" i="0">
                <a:solidFill>
                  <a:srgbClr val="141C1E"/>
                </a:solidFill>
                <a:latin typeface="Arial"/>
              </a:rPr>
              <a:t>Three years separate v2.4.0 from HEAD. The v4.3.0 column isolates the current release; the v2.4.0 column tells a reader of the paper what the whole period bought them.</a:t>
            </a:r>
          </a:p>
          <a:p>
            <a:pPr algn="l">
              <a:spcAft>
                <a:spcPts val="400"/>
              </a:spcAft>
            </a:pPr>
            <a:r>
              <a:rPr sz="1700" b="1" i="0">
                <a:solidFill>
                  <a:srgbClr val="B04A2C"/>
                </a:solidFill>
                <a:latin typeface="Arial"/>
              </a:rPr>
              <a:t>One machine, one locus, one workload family.</a:t>
            </a:r>
          </a:p>
          <a:p>
            <a:pPr algn="l">
              <a:spcAft>
                <a:spcPts val="1500"/>
              </a:spcAft>
            </a:pPr>
            <a:r>
              <a:rPr sz="1400" b="0" i="0">
                <a:solidFill>
                  <a:srgbClr val="141C1E"/>
                </a:solidFill>
                <a:latin typeface="Arial"/>
              </a:rPr>
              <a:t>Alignment pileups over a 19 kb window, against the paper's 10 kb. Same corpus and the same pbsim and wgsim commands its methods describe.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